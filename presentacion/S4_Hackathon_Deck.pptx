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>
            <a:off x="3914775" y="914400"/>
            <a:ext cx="4514850" cy="1335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400" b="1" spc="-1" kern="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Engineering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3914775" y="2464594"/>
            <a:ext cx="4063343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Construye tu Agente Autónomo — APIs reales, no carpetas locales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3914775" y="4220170"/>
            <a:ext cx="3845123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" kern="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CLAUDE PARA PRODUCTIVIDAD · NIVEL 2 · SESIÓN 4 DE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914775" y="4430911"/>
            <a:ext cx="6536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LEÓN RUIZ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2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824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660797" y="2453683"/>
            <a:ext cx="217884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RECAPITULACIÓN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3000" y="428625"/>
            <a:ext cx="77152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Dónde quedamos — El viaje hasta hoy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143000" y="946547"/>
            <a:ext cx="7715250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 tres sesiones pasaron de "darle órdenes" a "darle un objetivo".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43000" y="1294805"/>
            <a:ext cx="1071563" cy="225028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SESIÓN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300288" y="1294805"/>
            <a:ext cx="3236119" cy="2250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 QUE CONSTRUYERON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22131" y="1294805"/>
            <a:ext cx="3236119" cy="225028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 LENGUAJE DE LOOPS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143000" y="4016573"/>
            <a:ext cx="7715250" cy="737202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11" name="Shape 8"/>
          <p:cNvSpPr/>
          <p:nvPr/>
        </p:nvSpPr>
        <p:spPr>
          <a:xfrm>
            <a:off x="1143000" y="4016573"/>
            <a:ext cx="28575" cy="737202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12" name="Text 9"/>
          <p:cNvSpPr/>
          <p:nvPr/>
        </p:nvSpPr>
        <p:spPr>
          <a:xfrm>
            <a:off x="1314450" y="4145161"/>
            <a:ext cx="73723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Hoy su agente ya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ejecuta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. El problema: ejecutar no es lo mismo que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ejecutar bien, siempre, y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sin que ustedes lo prendan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436662" y="2434233"/>
            <a:ext cx="173057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INTERACCIÓN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8750" y="428625"/>
            <a:ext cx="2977158" cy="5107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Diagnóstico rápido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8750" y="1296591"/>
            <a:ext cx="19288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</a:t>
            </a:r>
            <a:endParaRPr lang="en-US" sz="3300" dirty="0"/>
          </a:p>
        </p:txBody>
      </p:sp>
      <p:sp>
        <p:nvSpPr>
          <p:cNvPr id="7" name="Text 4"/>
          <p:cNvSpPr/>
          <p:nvPr/>
        </p:nvSpPr>
        <p:spPr>
          <a:xfrm>
            <a:off x="1835944" y="1296591"/>
            <a:ext cx="6736556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¿Su agente de S3 corrió de principio a fin?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35944" y="1738052"/>
            <a:ext cx="6736556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(Sí / No / Parcial)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428750" y="2372060"/>
            <a:ext cx="264319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1907381" y="2372060"/>
            <a:ext cx="6665119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¿Alguna vez produjo algo que </a:t>
            </a:r>
            <a:r>
              <a:rPr lang="en-US" sz="1800" u="sng" dirty="0">
                <a:solidFill>
                  <a:srgbClr val="009A4A"/>
                </a:solidFill>
                <a:uFill>
                  <a:solidFill>
                    <a:srgbClr val="009A4A"/>
                  </a:solidFill>
                </a:u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no</a:t>
            </a:r>
            <a:r>
              <a:rPr lang="en-US" sz="18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esperaban?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07381" y="2813521"/>
            <a:ext cx="6665119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(Tono incorrecto, longitud excedida, alucinación, error)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428750" y="3726191"/>
            <a:ext cx="7143750" cy="988684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13" name="Text 10"/>
          <p:cNvSpPr/>
          <p:nvPr/>
        </p:nvSpPr>
        <p:spPr>
          <a:xfrm>
            <a:off x="1714500" y="3940504"/>
            <a:ext cx="657225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Casi todos levantan la mano en la segunda pregunta.</a:t>
            </a:r>
            <a:r>
              <a:rPr lang="en-US" sz="1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4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Eso es exactamente lo que hoy resolvemos.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266105" y="2434233"/>
            <a:ext cx="1389459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CONCEPTO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8750" y="428625"/>
            <a:ext cx="7143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Qué es Loop Engineering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8750" y="910828"/>
            <a:ext cx="714375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"prompt" a "sistema"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428750" y="1435894"/>
            <a:ext cx="7143750" cy="1400175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8" name="Shape 5"/>
          <p:cNvSpPr/>
          <p:nvPr/>
        </p:nvSpPr>
        <p:spPr>
          <a:xfrm>
            <a:off x="1428750" y="1435894"/>
            <a:ext cx="57150" cy="1400175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9" name="Text 6"/>
          <p:cNvSpPr/>
          <p:nvPr/>
        </p:nvSpPr>
        <p:spPr>
          <a:xfrm>
            <a:off x="1714500" y="1685925"/>
            <a:ext cx="657225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Loop Engineering es diseñar los </a:t>
            </a:r>
            <a:r>
              <a:rPr lang="en-US" sz="14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ciclos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que hacen a un agente confiable: 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ejecute, </a:t>
            </a:r>
            <a:r>
              <a:rPr lang="en-US" sz="14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 verifique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, </a:t>
            </a:r>
            <a:r>
              <a:rPr lang="en-US" sz="14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recuerde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y </a:t>
            </a:r>
            <a:r>
              <a:rPr lang="en-US" sz="14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 dispare solo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con 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infraestructura que persiste, no en una carpeta que vive en tu laptop.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221831"/>
            <a:ext cx="171450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43075" y="3193256"/>
            <a:ext cx="5581055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S2 les dio el </a:t>
            </a: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harness</a:t>
            </a: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 S3 les dio la </a:t>
            </a: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orquestación</a:t>
            </a: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 S4 les da los </a:t>
            </a: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loops</a:t>
            </a: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3660446"/>
            <a:ext cx="214313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5938" y="3631871"/>
            <a:ext cx="4666655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agente sin loops es un </a:t>
            </a: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asistente</a:t>
            </a: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que espera órdenes.</a:t>
            </a:r>
            <a:endParaRPr lang="en-US" sz="1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4099061"/>
            <a:ext cx="150019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21644" y="4070486"/>
            <a:ext cx="4321969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agente con loops es un </a:t>
            </a: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Chief of Operations</a:t>
            </a: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real.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641152" y="2434233"/>
            <a:ext cx="213955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MARCO CENTRAL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8750" y="428625"/>
            <a:ext cx="7143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 escalera de los 4 loops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8750" y="910828"/>
            <a:ext cx="7143750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Cuatro niveles que se apilan para construir un sistema confiable.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714750" y="1330523"/>
            <a:ext cx="4857750" cy="464344"/>
          </a:xfrm>
          <a:prstGeom prst="rect">
            <a:avLst/>
          </a:prstGeom>
          <a:solidFill>
            <a:srgbClr val="FEFEF5"/>
          </a:solidFill>
          <a:ln w="18288">
            <a:solidFill>
              <a:srgbClr val="380C6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3714750" y="1330523"/>
            <a:ext cx="500063" cy="464344"/>
          </a:xfrm>
          <a:prstGeom prst="rect">
            <a:avLst/>
          </a:prstGeom>
          <a:solidFill>
            <a:srgbClr val="380C6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056" y="1448395"/>
            <a:ext cx="1714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00538" y="1468041"/>
            <a:ext cx="1143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Hill Climbing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529263" y="1395543"/>
            <a:ext cx="1800225" cy="3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mejora solo analizando su pasado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415213" y="1460004"/>
            <a:ext cx="1071563" cy="20538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13" name="Text 9"/>
          <p:cNvSpPr/>
          <p:nvPr/>
        </p:nvSpPr>
        <p:spPr>
          <a:xfrm>
            <a:off x="7415213" y="1460004"/>
            <a:ext cx="1071563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TEASER S5</a:t>
            </a:r>
            <a:endParaRPr lang="en-US" sz="700" dirty="0"/>
          </a:p>
        </p:txBody>
      </p:sp>
      <p:sp>
        <p:nvSpPr>
          <p:cNvPr id="14" name="Shape 10"/>
          <p:cNvSpPr/>
          <p:nvPr/>
        </p:nvSpPr>
        <p:spPr>
          <a:xfrm>
            <a:off x="3143250" y="1852017"/>
            <a:ext cx="5429250" cy="46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9A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143250" y="1852017"/>
            <a:ext cx="500063" cy="46434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16" name="Text 12"/>
          <p:cNvSpPr/>
          <p:nvPr/>
        </p:nvSpPr>
        <p:spPr>
          <a:xfrm>
            <a:off x="3143250" y="1852017"/>
            <a:ext cx="500063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729038" y="1989534"/>
            <a:ext cx="1143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Trigger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57763" y="2000613"/>
            <a:ext cx="23717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Despierta solo, sin humano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415213" y="1981498"/>
            <a:ext cx="1071563" cy="205383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0" name="Text 16"/>
          <p:cNvSpPr/>
          <p:nvPr/>
        </p:nvSpPr>
        <p:spPr>
          <a:xfrm>
            <a:off x="7415213" y="1981498"/>
            <a:ext cx="1071563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HOY (RETO)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2571750" y="2373511"/>
            <a:ext cx="6000750" cy="46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9A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571750" y="2373511"/>
            <a:ext cx="500063" cy="46434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3" name="Text 19"/>
          <p:cNvSpPr/>
          <p:nvPr/>
        </p:nvSpPr>
        <p:spPr>
          <a:xfrm>
            <a:off x="2571750" y="2373511"/>
            <a:ext cx="500063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3157538" y="2511028"/>
            <a:ext cx="1143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Memoria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386263" y="2522107"/>
            <a:ext cx="29432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Recuerda entre corridas, no parte de cero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7415213" y="2502991"/>
            <a:ext cx="1071563" cy="205383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7" name="Text 23"/>
          <p:cNvSpPr/>
          <p:nvPr/>
        </p:nvSpPr>
        <p:spPr>
          <a:xfrm>
            <a:off x="7415213" y="2502991"/>
            <a:ext cx="1071563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HOY</a:t>
            </a:r>
            <a:endParaRPr lang="en-US" sz="700" dirty="0"/>
          </a:p>
        </p:txBody>
      </p:sp>
      <p:sp>
        <p:nvSpPr>
          <p:cNvPr id="28" name="Shape 24"/>
          <p:cNvSpPr/>
          <p:nvPr/>
        </p:nvSpPr>
        <p:spPr>
          <a:xfrm>
            <a:off x="2000250" y="2895005"/>
            <a:ext cx="6572250" cy="46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9A4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2000250" y="2895005"/>
            <a:ext cx="500063" cy="46434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0" name="Text 26"/>
          <p:cNvSpPr/>
          <p:nvPr/>
        </p:nvSpPr>
        <p:spPr>
          <a:xfrm>
            <a:off x="2000250" y="2895005"/>
            <a:ext cx="500063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2586038" y="3032522"/>
            <a:ext cx="1143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Verificación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814763" y="3043600"/>
            <a:ext cx="3514725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Revisa su propio trabajo antes de entregar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7415213" y="3024485"/>
            <a:ext cx="1071563" cy="205383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4" name="Text 30"/>
          <p:cNvSpPr/>
          <p:nvPr/>
        </p:nvSpPr>
        <p:spPr>
          <a:xfrm>
            <a:off x="7415213" y="3024485"/>
            <a:ext cx="1071563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HOY</a:t>
            </a:r>
            <a:endParaRPr lang="en-US" sz="700" dirty="0"/>
          </a:p>
        </p:txBody>
      </p:sp>
      <p:sp>
        <p:nvSpPr>
          <p:cNvPr id="35" name="Shape 31"/>
          <p:cNvSpPr/>
          <p:nvPr/>
        </p:nvSpPr>
        <p:spPr>
          <a:xfrm>
            <a:off x="1428750" y="3416498"/>
            <a:ext cx="7143750" cy="464344"/>
          </a:xfrm>
          <a:prstGeom prst="rect">
            <a:avLst/>
          </a:prstGeom>
          <a:solidFill>
            <a:srgbClr val="FFFFFF"/>
          </a:solidFill>
          <a:ln w="18288">
            <a:solidFill>
              <a:srgbClr val="009A4A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428750" y="3416498"/>
            <a:ext cx="500063" cy="46434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7" name="Text 33"/>
          <p:cNvSpPr/>
          <p:nvPr/>
        </p:nvSpPr>
        <p:spPr>
          <a:xfrm>
            <a:off x="1428750" y="3416498"/>
            <a:ext cx="500063" cy="46434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2014538" y="3554016"/>
            <a:ext cx="1143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Ejecución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3243263" y="3565094"/>
            <a:ext cx="3955852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agente hace la tarea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7284839" y="3545979"/>
            <a:ext cx="1201936" cy="205383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41" name="Text 37"/>
          <p:cNvSpPr/>
          <p:nvPr/>
        </p:nvSpPr>
        <p:spPr>
          <a:xfrm>
            <a:off x="7284839" y="3545979"/>
            <a:ext cx="1201936" cy="205383"/>
          </a:xfrm>
          <a:prstGeom prst="rect">
            <a:avLst/>
          </a:prstGeom>
          <a:noFill/>
          <a:ln/>
        </p:spPr>
        <p:txBody>
          <a:bodyPr wrap="none" lIns="102108" tIns="51054" rIns="102108" bIns="51054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E1AB7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YA LO TIENEN (S1-S3)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1428750" y="4277711"/>
            <a:ext cx="7143750" cy="651477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43" name="Shape 39"/>
          <p:cNvSpPr/>
          <p:nvPr/>
        </p:nvSpPr>
        <p:spPr>
          <a:xfrm>
            <a:off x="1428750" y="4277711"/>
            <a:ext cx="42863" cy="651477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44" name="Text 40"/>
          <p:cNvSpPr/>
          <p:nvPr/>
        </p:nvSpPr>
        <p:spPr>
          <a:xfrm>
            <a:off x="1600200" y="4363436"/>
            <a:ext cx="68008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Hoy subimos del Loop 1 al sistema completo —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y lo construyen ustedes en el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hackathon.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416123" y="2434233"/>
            <a:ext cx="1689497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8750" y="428625"/>
            <a:ext cx="7143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2 — Verificación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8750" y="910828"/>
            <a:ext cx="3820120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"Terminó" no es lo mismo que "lo hizo bien"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28750" y="1450181"/>
            <a:ext cx="714375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Agent Loop termina cuando el agente decide que terminó — no cuando el resultado es correcto.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111" y="1975582"/>
            <a:ext cx="225028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57375" y="1955936"/>
            <a:ext cx="303609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Exceder longitud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857375" y="2218469"/>
            <a:ext cx="30360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 pidieron un resumen de un párrafo y entregó tres.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2069" y="1975582"/>
            <a:ext cx="257175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36406" y="1955936"/>
            <a:ext cx="303609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Tono incorrecto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536406" y="2218469"/>
            <a:ext cx="30360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Suena casual cuando requería formalidad, o robótico cuando necesitaba empatía.</a:t>
            </a:r>
            <a:endParaRPr lang="en-US" sz="9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2883898"/>
            <a:ext cx="321469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857375" y="2864253"/>
            <a:ext cx="303609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Promesa no autorizada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857375" y="3126786"/>
            <a:ext cx="303609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Ofrece un reembolso o descuento que nadie aprobó.</a:t>
            </a:r>
            <a:endParaRPr lang="en-US" sz="9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2069" y="2883898"/>
            <a:ext cx="257175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36406" y="2864253"/>
            <a:ext cx="303609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Inconsistencia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536406" y="3126786"/>
            <a:ext cx="30360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formato del output cambia sin razón aparente entre ejecuciones.</a:t>
            </a:r>
            <a:endParaRPr lang="en-US" sz="950" dirty="0"/>
          </a:p>
        </p:txBody>
      </p:sp>
      <p:sp>
        <p:nvSpPr>
          <p:cNvPr id="20" name="Shape 13"/>
          <p:cNvSpPr/>
          <p:nvPr/>
        </p:nvSpPr>
        <p:spPr>
          <a:xfrm>
            <a:off x="1428750" y="3963386"/>
            <a:ext cx="7143750" cy="751489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21" name="Shape 14"/>
          <p:cNvSpPr/>
          <p:nvPr/>
        </p:nvSpPr>
        <p:spPr>
          <a:xfrm>
            <a:off x="1428750" y="3963386"/>
            <a:ext cx="42863" cy="751489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22" name="Text 15"/>
          <p:cNvSpPr/>
          <p:nvPr/>
        </p:nvSpPr>
        <p:spPr>
          <a:xfrm>
            <a:off x="1714500" y="4099117"/>
            <a:ext cx="65722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Pedirle "ten más cuidado" no funciona.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 solución: un segundo proceso que revisa antes de entregar.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255389" y="2434233"/>
            <a:ext cx="136802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PATRÓN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3028950" cy="51077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2 — El patrón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1285875" y="1153716"/>
            <a:ext cx="7429500" cy="950119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7" name="Shape 4"/>
          <p:cNvSpPr/>
          <p:nvPr/>
        </p:nvSpPr>
        <p:spPr>
          <a:xfrm>
            <a:off x="1285875" y="1153716"/>
            <a:ext cx="42863" cy="950119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8" name="Shape 5"/>
          <p:cNvSpPr/>
          <p:nvPr/>
        </p:nvSpPr>
        <p:spPr>
          <a:xfrm>
            <a:off x="1500188" y="1260872"/>
            <a:ext cx="1137642" cy="735806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00188" y="1260872"/>
            <a:ext cx="1137642" cy="735806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Worker</a:t>
            </a:r>
            <a:r>
              <a:rPr lang="en-US" sz="14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
</a:t>
            </a: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(Genera)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543" y="1500188"/>
            <a:ext cx="225028" cy="25717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753148" y="1260872"/>
            <a:ext cx="1107281" cy="735806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753148" y="1260872"/>
            <a:ext cx="1107281" cy="735806"/>
          </a:xfrm>
          <a:prstGeom prst="rect">
            <a:avLst/>
          </a:prstGeom>
          <a:noFill/>
          <a:ln/>
        </p:spPr>
        <p:txBody>
          <a:bodyPr wrap="none" lIns="255143" tIns="127508" rIns="255143" bIns="127508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Grader</a:t>
            </a:r>
            <a:r>
              <a:rPr lang="en-US" sz="14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
</a:t>
            </a: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(Revisa)</a:t>
            </a:r>
            <a:endParaRPr lang="en-US" sz="14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289" y="1478756"/>
            <a:ext cx="225028" cy="257175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609" y="1361777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25791" y="1359098"/>
            <a:ext cx="108049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Pasa: Entrega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609" y="1652885"/>
            <a:ext cx="200025" cy="2000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25791" y="1650206"/>
            <a:ext cx="2175272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F2C7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Falla: Feedback + Reintenta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1285875" y="2346722"/>
            <a:ext cx="360759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1. FEEDBACK ESPECÍFICO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1285875" y="2728913"/>
            <a:ext cx="3607594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worker no adivina qué corregir. El grader le dice exactamente por qué falló.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1285875" y="3311798"/>
            <a:ext cx="3607594" cy="550069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21" name="Shape 14"/>
          <p:cNvSpPr/>
          <p:nvPr/>
        </p:nvSpPr>
        <p:spPr>
          <a:xfrm>
            <a:off x="1285875" y="3311798"/>
            <a:ext cx="42863" cy="550069"/>
          </a:xfrm>
          <a:prstGeom prst="rect">
            <a:avLst/>
          </a:prstGeom>
          <a:solidFill>
            <a:srgbClr val="009A4A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8750" y="3410024"/>
            <a:ext cx="157163" cy="15716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657350" y="3397523"/>
            <a:ext cx="2537817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"Tu respuesta tiene 142 palabras, el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1428750" y="3586832"/>
            <a:ext cx="10858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máximo es 60."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5107781" y="2346722"/>
            <a:ext cx="3607594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2. GRADER HÍBRIDO</a:t>
            </a:r>
            <a:endParaRPr lang="en-US" sz="14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5641" y="2814079"/>
            <a:ext cx="321469" cy="25717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579269" y="2728913"/>
            <a:ext cx="31361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Código (Gratis):</a:t>
            </a: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Para lo objetivo y medible </a:t>
            </a: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(longitud, frases prohibidas).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5641" y="3368390"/>
            <a:ext cx="321469" cy="25717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579269" y="3283223"/>
            <a:ext cx="313610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LLM Barato (Haiku):</a:t>
            </a: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Solo para lo subjetivo </a:t>
            </a: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requiere juicio (tono, empatía).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1285875" y="4226254"/>
            <a:ext cx="7429500" cy="917246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1" name="Text 21"/>
          <p:cNvSpPr/>
          <p:nvPr/>
        </p:nvSpPr>
        <p:spPr>
          <a:xfrm>
            <a:off x="1571625" y="4404847"/>
            <a:ext cx="6858000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Código para lo medible, LLM barato para el juicio.</a:t>
            </a:r>
            <a:r>
              <a:rPr lang="en-US" sz="1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Eso hace la verificación sostenible.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59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59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342900" y="2435433"/>
            <a:ext cx="154305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CONCEPTOS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Primer: ¿Qué es una API?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6066830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"enchufe" para que tus programas hablen con servicios externos.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435894"/>
            <a:ext cx="3643313" cy="262990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5875" y="1435894"/>
            <a:ext cx="3643313" cy="387548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9" name="Shape 6"/>
          <p:cNvSpPr/>
          <p:nvPr/>
        </p:nvSpPr>
        <p:spPr>
          <a:xfrm>
            <a:off x="1285875" y="1802011"/>
            <a:ext cx="3643313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1526084"/>
            <a:ext cx="162520" cy="1857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8427" y="1507331"/>
            <a:ext cx="991195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 Analogía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428750" y="1916311"/>
            <a:ext cx="33575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Imagina un restaurante: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0" y="2205633"/>
            <a:ext cx="214313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28788" y="2191345"/>
            <a:ext cx="196810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Tú (Cliente):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Quieres comida.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750" y="2511363"/>
            <a:ext cx="192881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07356" y="2497075"/>
            <a:ext cx="3078956" cy="4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Menú (API):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Te dice qué puedes pedir y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cómo pedirlo.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694408" y="3002831"/>
            <a:ext cx="3091904" cy="4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 Cocina (Servidor):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Prepara la comida y te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entrega.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428750" y="3508586"/>
            <a:ext cx="3357563" cy="378619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entras a la cocina, solo usas el menú para obtener el resultado.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072063" y="1435894"/>
            <a:ext cx="3643313" cy="2565611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072063" y="1435894"/>
            <a:ext cx="3643313" cy="387548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1" name="Shape 15"/>
          <p:cNvSpPr/>
          <p:nvPr/>
        </p:nvSpPr>
        <p:spPr>
          <a:xfrm>
            <a:off x="5072063" y="1802011"/>
            <a:ext cx="3643313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938" y="1526084"/>
            <a:ext cx="232172" cy="18573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54266" y="1507331"/>
            <a:ext cx="1359098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 nuestro Reto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5214938" y="1916311"/>
            <a:ext cx="335756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Tu agente usa APIs para salir de Cowork: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4938" y="2205633"/>
            <a:ext cx="193216" cy="17145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93879" y="2191345"/>
            <a:ext cx="3078621" cy="4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OpenRouter: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API para pensar (conecta con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Claude).</a:t>
            </a:r>
            <a:endParaRPr lang="en-US" sz="11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938" y="2711388"/>
            <a:ext cx="175189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75852" y="2697100"/>
            <a:ext cx="3096648" cy="4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Supabase: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API para recordar (escribe en la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base de datos).</a:t>
            </a:r>
            <a:endParaRPr lang="en-US" sz="11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4938" y="3217143"/>
            <a:ext cx="209848" cy="1714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510510" y="3202856"/>
            <a:ext cx="3061990" cy="4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1818"/>
              </a:lnSpc>
              <a:buNone/>
            </a:pPr>
            <a:r>
              <a:rPr lang="en-US" sz="11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Webhook: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API para despertar (recibe el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trigger).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1285875" y="4287255"/>
            <a:ext cx="7429500" cy="651477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32" name="Shape 22"/>
          <p:cNvSpPr/>
          <p:nvPr/>
        </p:nvSpPr>
        <p:spPr>
          <a:xfrm>
            <a:off x="1285875" y="4287255"/>
            <a:ext cx="42863" cy="651477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33" name="Text 23"/>
          <p:cNvSpPr/>
          <p:nvPr/>
        </p:nvSpPr>
        <p:spPr>
          <a:xfrm>
            <a:off x="1428750" y="4372980"/>
            <a:ext cx="7143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Hoy su agente deja de estar aislado. Aprende a </a:t>
            </a:r>
            <a:r>
              <a:rPr lang="en-US" sz="1200" b="1" dirty="0">
                <a:solidFill>
                  <a:srgbClr val="1E1AB7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enchufarse a servicios externos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para operar 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en el mundo real.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50912" y="2434233"/>
            <a:ext cx="115907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STACK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3000" y="428625"/>
            <a:ext cx="77152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Las 4 herramientas del reto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143000" y="910828"/>
            <a:ext cx="4064794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stack del hackathon, en una línea cada uno.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578" y="1415355"/>
            <a:ext cx="321469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14500" y="1430536"/>
            <a:ext cx="157162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OpenRouter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286125" y="1378744"/>
            <a:ext cx="3429000" cy="34290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Una puerta única a muchos modelos de IA (Claude, etc.)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715125" y="1393031"/>
            <a:ext cx="2143125" cy="314325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11" name="Shape 7"/>
          <p:cNvSpPr/>
          <p:nvPr/>
        </p:nvSpPr>
        <p:spPr>
          <a:xfrm>
            <a:off x="6715125" y="1393031"/>
            <a:ext cx="28575" cy="314325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12" name="Text 8"/>
          <p:cNvSpPr/>
          <p:nvPr/>
        </p:nvSpPr>
        <p:spPr>
          <a:xfrm>
            <a:off x="6715125" y="1393031"/>
            <a:ext cx="21431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</a:t>
            </a:r>
            <a:r>
              <a:rPr lang="en-US" sz="10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cerebro</a:t>
            </a: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(Loop 2)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798" y="1908274"/>
            <a:ext cx="225028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14500" y="1923455"/>
            <a:ext cx="157162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286125" y="1957388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Una base de datos en la nube con API automática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715125" y="1885950"/>
            <a:ext cx="2143125" cy="314325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17" name="Shape 12"/>
          <p:cNvSpPr/>
          <p:nvPr/>
        </p:nvSpPr>
        <p:spPr>
          <a:xfrm>
            <a:off x="6715125" y="1885950"/>
            <a:ext cx="28575" cy="314325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18" name="Text 13"/>
          <p:cNvSpPr/>
          <p:nvPr/>
        </p:nvSpPr>
        <p:spPr>
          <a:xfrm>
            <a:off x="6715125" y="1885950"/>
            <a:ext cx="21431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La </a:t>
            </a:r>
            <a:r>
              <a:rPr lang="en-US" sz="10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memoria</a:t>
            </a: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(Loop 3)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297" y="2386905"/>
            <a:ext cx="250031" cy="2571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714500" y="2402086"/>
            <a:ext cx="157162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GitHub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3286125" y="2436019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Donde vive y se versiona el código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715125" y="2364581"/>
            <a:ext cx="2143125" cy="314325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23" name="Shape 17"/>
          <p:cNvSpPr/>
          <p:nvPr/>
        </p:nvSpPr>
        <p:spPr>
          <a:xfrm>
            <a:off x="6715125" y="2364581"/>
            <a:ext cx="28575" cy="314325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24" name="Text 18"/>
          <p:cNvSpPr/>
          <p:nvPr/>
        </p:nvSpPr>
        <p:spPr>
          <a:xfrm>
            <a:off x="6715125" y="2364581"/>
            <a:ext cx="21431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</a:t>
            </a:r>
            <a:r>
              <a:rPr lang="en-US" sz="10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entregable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872" y="2865537"/>
            <a:ext cx="192881" cy="2571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14500" y="2880717"/>
            <a:ext cx="157162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n8n </a:t>
            </a:r>
            <a:r>
              <a:rPr lang="en-US" sz="9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(opcional)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3286125" y="2914650"/>
            <a:ext cx="3429000" cy="17145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Orquestador visual de flujos en la nube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6715125" y="2843213"/>
            <a:ext cx="2143125" cy="314325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29" name="Shape 22"/>
          <p:cNvSpPr/>
          <p:nvPr/>
        </p:nvSpPr>
        <p:spPr>
          <a:xfrm>
            <a:off x="6715125" y="2843213"/>
            <a:ext cx="28575" cy="314325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30" name="Text 23"/>
          <p:cNvSpPr/>
          <p:nvPr/>
        </p:nvSpPr>
        <p:spPr>
          <a:xfrm>
            <a:off x="6715125" y="2843213"/>
            <a:ext cx="2143125" cy="3143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</a:t>
            </a:r>
            <a:r>
              <a:rPr lang="en-US" sz="10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disparador</a:t>
            </a:r>
            <a:r>
              <a:rPr lang="en-US" sz="10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(Loop 4)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1143000" y="4191986"/>
            <a:ext cx="7715250" cy="737202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32" name="Text 25"/>
          <p:cNvSpPr/>
          <p:nvPr/>
        </p:nvSpPr>
        <p:spPr>
          <a:xfrm>
            <a:off x="1428750" y="4320573"/>
            <a:ext cx="7143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Su agente —vía Cowork o Manus— va a orquestar estas piezas.</a:t>
            </a: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Ustedes no programan desde cero: completan plantillas.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416123" y="2434233"/>
            <a:ext cx="1689497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3 — Memoria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3087886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 agente no recuerda nada. Cero.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5875" y="1414463"/>
            <a:ext cx="74295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Cada vez que el trigger dispara, el agente arranca desde cero. No sabe a quién ya contactó la semana pasada.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85875" y="2068785"/>
            <a:ext cx="2212191" cy="1430536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85875" y="2068785"/>
            <a:ext cx="2183616" cy="37683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10" name="Text 7"/>
          <p:cNvSpPr/>
          <p:nvPr/>
        </p:nvSpPr>
        <p:spPr>
          <a:xfrm>
            <a:off x="1285875" y="2068785"/>
            <a:ext cx="2183616" cy="37683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LUNES 1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545631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85913" y="2531343"/>
            <a:ext cx="9554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Revisa pipeline</a:t>
            </a:r>
            <a:endParaRPr lang="en-US" sz="10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81387"/>
            <a:ext cx="171450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43050" y="2895674"/>
            <a:ext cx="1769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Contacta a Grupo Meridian</a:t>
            </a:r>
            <a:endParaRPr lang="en-US" sz="10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216" y="2655466"/>
            <a:ext cx="225028" cy="25717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65969" y="2068785"/>
            <a:ext cx="2226478" cy="1430536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880256" y="2068785"/>
            <a:ext cx="2197903" cy="37683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18" name="Text 12"/>
          <p:cNvSpPr/>
          <p:nvPr/>
        </p:nvSpPr>
        <p:spPr>
          <a:xfrm>
            <a:off x="3880256" y="2068785"/>
            <a:ext cx="2197903" cy="37683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LUNES 2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5981" y="2545631"/>
            <a:ext cx="142875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180294" y="2531343"/>
            <a:ext cx="9554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Revisa pipeline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3880256" y="2795662"/>
            <a:ext cx="2197903" cy="703659"/>
          </a:xfrm>
          <a:prstGeom prst="rect">
            <a:avLst/>
          </a:prstGeom>
          <a:solidFill>
            <a:srgbClr val="FEFFB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5981" y="2881387"/>
            <a:ext cx="171450" cy="171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137431" y="2895674"/>
            <a:ext cx="1769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Contacta a Grupo Meridian</a:t>
            </a:r>
            <a:endParaRPr lang="en-US" sz="1050" dirty="0"/>
          </a:p>
        </p:txBody>
      </p:sp>
      <p:sp>
        <p:nvSpPr>
          <p:cNvPr id="24" name="Text 16"/>
          <p:cNvSpPr/>
          <p:nvPr/>
        </p:nvSpPr>
        <p:spPr>
          <a:xfrm>
            <a:off x="3965981" y="3181424"/>
            <a:ext cx="202645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1B302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(¡Otra vez!)</a:t>
            </a:r>
            <a:endParaRPr lang="en-US" sz="11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884" y="2655466"/>
            <a:ext cx="225028" cy="257175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6474637" y="2068785"/>
            <a:ext cx="2240766" cy="1430536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sp>
        <p:nvSpPr>
          <p:cNvPr id="27" name="Shape 18"/>
          <p:cNvSpPr/>
          <p:nvPr/>
        </p:nvSpPr>
        <p:spPr>
          <a:xfrm>
            <a:off x="6503212" y="2068785"/>
            <a:ext cx="2212191" cy="37683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28" name="Text 19"/>
          <p:cNvSpPr/>
          <p:nvPr/>
        </p:nvSpPr>
        <p:spPr>
          <a:xfrm>
            <a:off x="6503212" y="2068785"/>
            <a:ext cx="2212191" cy="37683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LUNES 3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937" y="2545631"/>
            <a:ext cx="142875" cy="14287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803250" y="2531343"/>
            <a:ext cx="95547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Revisa pipeline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6503212" y="2795662"/>
            <a:ext cx="2212191" cy="660797"/>
          </a:xfrm>
          <a:prstGeom prst="rect">
            <a:avLst/>
          </a:prstGeom>
          <a:solidFill>
            <a:srgbClr val="FED8EA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8937" y="2881387"/>
            <a:ext cx="171450" cy="17145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760387" y="2895674"/>
            <a:ext cx="17698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Contacta a Grupo Meridian</a:t>
            </a:r>
            <a:endParaRPr lang="en-US" sz="1050" dirty="0"/>
          </a:p>
        </p:txBody>
      </p:sp>
      <p:sp>
        <p:nvSpPr>
          <p:cNvPr id="34" name="Text 23"/>
          <p:cNvSpPr/>
          <p:nvPr/>
        </p:nvSpPr>
        <p:spPr>
          <a:xfrm>
            <a:off x="6588937" y="3181424"/>
            <a:ext cx="2040741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F2C7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(¡Spam!)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1285875" y="4406298"/>
            <a:ext cx="7429500" cy="737202"/>
          </a:xfrm>
          <a:prstGeom prst="rect">
            <a:avLst/>
          </a:prstGeom>
          <a:solidFill>
            <a:srgbClr val="CF2C7F"/>
          </a:solidFill>
          <a:ln/>
        </p:spPr>
      </p:sp>
      <p:sp>
        <p:nvSpPr>
          <p:cNvPr id="36" name="Text 25"/>
          <p:cNvSpPr/>
          <p:nvPr/>
        </p:nvSpPr>
        <p:spPr>
          <a:xfrm>
            <a:off x="1500188" y="4534886"/>
            <a:ext cx="70008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Sin memoria, manda el mismo email a las mismas cuentas semana tras semana.</a:t>
            </a: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b="1" dirty="0">
                <a:solidFill>
                  <a:srgbClr val="FED8E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resultado: genera ruido e irrita a los clientes.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309860" y="2434233"/>
            <a:ext cx="147697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EVOLUCIÓN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8750" y="428625"/>
            <a:ext cx="7143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3 — De archivo local a base de datos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8750" y="910828"/>
            <a:ext cx="2706058" cy="358973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</a:t>
            </a:r>
            <a:r>
              <a:rPr lang="en-US" sz="1500" dirty="0">
                <a:solidFill>
                  <a:srgbClr val="1E1AB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estado.json</a:t>
            </a: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evoluciona.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428750" y="1398389"/>
            <a:ext cx="2800350" cy="1368028"/>
          </a:xfrm>
          <a:prstGeom prst="rect">
            <a:avLst/>
          </a:prstGeom>
          <a:solidFill>
            <a:srgbClr val="D9EA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38" y="1512689"/>
            <a:ext cx="178594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07369" y="1498402"/>
            <a:ext cx="77866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ANTES (S3)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557338" y="1727002"/>
            <a:ext cx="254317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Archivo Local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7338" y="2023467"/>
            <a:ext cx="25431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archivo que el agente lee al inicio y escribe al final. Vive aislado en tu computadora.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71975" y="1398389"/>
            <a:ext cx="4200525" cy="1368028"/>
          </a:xfrm>
          <a:prstGeom prst="rect">
            <a:avLst/>
          </a:prstGeom>
          <a:solidFill>
            <a:srgbClr val="009A4A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3" y="1512689"/>
            <a:ext cx="178594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0594" y="1498402"/>
            <a:ext cx="8393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EFFB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AHORA (S4)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500563" y="1727002"/>
            <a:ext cx="394335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Tabla en Supabase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500563" y="2023467"/>
            <a:ext cx="39433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EFEF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Misma idea, pero en la nube: auditable, compartible, y lista para integrarse con otras herramientas sin depender de tu laptop.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428750" y="2866430"/>
            <a:ext cx="7143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CICLO DE MEMORIA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428750" y="3141464"/>
            <a:ext cx="1428750" cy="657225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8825" y="3241477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892201" y="3527227"/>
            <a:ext cx="50184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1. Corre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0606" y="3384352"/>
            <a:ext cx="150019" cy="17145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333731" y="3141464"/>
            <a:ext cx="1428750" cy="657225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094" y="3241477"/>
            <a:ext cx="200025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673060" y="3527227"/>
            <a:ext cx="7500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2. Lee tabla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5588" y="3384352"/>
            <a:ext cx="150019" cy="17145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5238713" y="3141464"/>
            <a:ext cx="1428750" cy="657225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13" y="3241477"/>
            <a:ext cx="285750" cy="2286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634298" y="3527227"/>
            <a:ext cx="63758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3. Trabaja</a:t>
            </a:r>
            <a:endParaRPr lang="en-US" sz="10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0569" y="3384352"/>
            <a:ext cx="150019" cy="171450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7143694" y="3141464"/>
            <a:ext cx="1428750" cy="657225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8057" y="3227189"/>
            <a:ext cx="200025" cy="2286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535707" y="3512939"/>
            <a:ext cx="6447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4. Escribe</a:t>
            </a:r>
            <a:endParaRPr lang="en-US" sz="1000" dirty="0"/>
          </a:p>
        </p:txBody>
      </p:sp>
      <p:sp>
        <p:nvSpPr>
          <p:cNvPr id="33" name="Shape 21"/>
          <p:cNvSpPr/>
          <p:nvPr/>
        </p:nvSpPr>
        <p:spPr>
          <a:xfrm>
            <a:off x="1428750" y="4234848"/>
            <a:ext cx="7143750" cy="765777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34" name="Shape 22"/>
          <p:cNvSpPr/>
          <p:nvPr/>
        </p:nvSpPr>
        <p:spPr>
          <a:xfrm>
            <a:off x="1428750" y="4234848"/>
            <a:ext cx="42863" cy="765777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5" name="Text 23"/>
          <p:cNvSpPr/>
          <p:nvPr/>
        </p:nvSpPr>
        <p:spPr>
          <a:xfrm>
            <a:off x="1643063" y="4377723"/>
            <a:ext cx="6715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Esto es "salir de lo local" que pidieron: su memoria deja de ser un archivo en tu compu </a:t>
            </a: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y se vuelve </a:t>
            </a:r>
            <a:r>
              <a:rPr lang="en-US" sz="12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infraestructura real</a:t>
            </a: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553641" y="2434233"/>
            <a:ext cx="1964531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DISPARADOR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3000" y="428625"/>
            <a:ext cx="77152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4 — Trigger · Cron vs Webhook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143000" y="910828"/>
            <a:ext cx="2328863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¿Qué despierta al agente?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500313" y="1378744"/>
            <a:ext cx="3143250" cy="37683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8" name="Shape 5"/>
          <p:cNvSpPr/>
          <p:nvPr/>
        </p:nvSpPr>
        <p:spPr>
          <a:xfrm>
            <a:off x="2500313" y="1727002"/>
            <a:ext cx="314325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038" y="1481435"/>
            <a:ext cx="171450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43213" y="1464469"/>
            <a:ext cx="38754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Cron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15000" y="1378744"/>
            <a:ext cx="3143250" cy="376833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12" name="Shape 8"/>
          <p:cNvSpPr/>
          <p:nvPr/>
        </p:nvSpPr>
        <p:spPr>
          <a:xfrm>
            <a:off x="5715000" y="1727002"/>
            <a:ext cx="3143250" cy="2857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0725" y="1467148"/>
            <a:ext cx="128588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15038" y="1450181"/>
            <a:ext cx="7500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Webhook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1143000" y="4263423"/>
            <a:ext cx="7715250" cy="737202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16" name="Shape 11"/>
          <p:cNvSpPr/>
          <p:nvPr/>
        </p:nvSpPr>
        <p:spPr>
          <a:xfrm>
            <a:off x="1143000" y="4263423"/>
            <a:ext cx="42863" cy="737202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17" name="Text 12"/>
          <p:cNvSpPr/>
          <p:nvPr/>
        </p:nvSpPr>
        <p:spPr>
          <a:xfrm>
            <a:off x="1357313" y="4392011"/>
            <a:ext cx="72866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 el momento exacto importa → </a:t>
            </a:r>
            <a:r>
              <a:rPr lang="en-US" sz="1200" b="1" dirty="0">
                <a:solidFill>
                  <a:srgbClr val="1E1AB7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webhook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. Si puede esperar al lunes → </a:t>
            </a:r>
            <a:r>
              <a:rPr lang="en-US" sz="1200" b="1" dirty="0">
                <a:solidFill>
                  <a:srgbClr val="1E1AB7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cron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.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Hoy, en el carril avanzado, lo construyen.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577751" y="2434233"/>
            <a:ext cx="2012752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DEMOSTRACIÓN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Demo de referencia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2789634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Agente Autónomo en acción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378744"/>
            <a:ext cx="3643313" cy="76577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5875" y="1498206"/>
            <a:ext cx="857250" cy="526852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9" name="Shape 6"/>
          <p:cNvSpPr/>
          <p:nvPr/>
        </p:nvSpPr>
        <p:spPr>
          <a:xfrm>
            <a:off x="2128838" y="1498206"/>
            <a:ext cx="14288" cy="5268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1465362" y="1583931"/>
            <a:ext cx="49827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34120" y="1801816"/>
            <a:ext cx="3607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Trigger</a:t>
            </a:r>
            <a:endParaRPr lang="en-US" sz="8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425" y="1647332"/>
            <a:ext cx="175524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47249" y="1573048"/>
            <a:ext cx="2267638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Webhook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despierta al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agente automáticamente.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72063" y="1378744"/>
            <a:ext cx="3643313" cy="76577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72063" y="1483919"/>
            <a:ext cx="857250" cy="526852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5915025" y="1483919"/>
            <a:ext cx="14288" cy="5268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3"/>
          <p:cNvSpPr/>
          <p:nvPr/>
        </p:nvSpPr>
        <p:spPr>
          <a:xfrm>
            <a:off x="5257800" y="1569644"/>
            <a:ext cx="4857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277445" y="1787528"/>
            <a:ext cx="4464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Memoria</a:t>
            </a:r>
            <a:endParaRPr lang="en-US" sz="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613" y="1633045"/>
            <a:ext cx="200025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7938" y="1464469"/>
            <a:ext cx="2243138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Lee </a:t>
            </a: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Supabase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para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identificar cuentas inactivas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(+30 días).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1285875" y="2223102"/>
            <a:ext cx="3643313" cy="76577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285875" y="2342564"/>
            <a:ext cx="857250" cy="526852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23" name="Shape 18"/>
          <p:cNvSpPr/>
          <p:nvPr/>
        </p:nvSpPr>
        <p:spPr>
          <a:xfrm>
            <a:off x="2128838" y="2342564"/>
            <a:ext cx="14288" cy="5268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Text 19"/>
          <p:cNvSpPr/>
          <p:nvPr/>
        </p:nvSpPr>
        <p:spPr>
          <a:xfrm>
            <a:off x="1482328" y="2428289"/>
            <a:ext cx="46434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1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1460897" y="2646173"/>
            <a:ext cx="5072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Ejecución</a:t>
            </a:r>
            <a:endParaRPr lang="en-US" sz="8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7425" y="2491690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600325" y="2323114"/>
            <a:ext cx="2214563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Claude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redacta mensajes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personalizados para cada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cuenta.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5072063" y="2223102"/>
            <a:ext cx="3643313" cy="76577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072063" y="2328276"/>
            <a:ext cx="857250" cy="526852"/>
          </a:xfrm>
          <a:prstGeom prst="rect">
            <a:avLst/>
          </a:prstGeom>
          <a:solidFill>
            <a:srgbClr val="FEFFBF"/>
          </a:solidFill>
          <a:ln/>
        </p:spPr>
      </p:sp>
      <p:sp>
        <p:nvSpPr>
          <p:cNvPr id="30" name="Shape 24"/>
          <p:cNvSpPr/>
          <p:nvPr/>
        </p:nvSpPr>
        <p:spPr>
          <a:xfrm>
            <a:off x="5915025" y="2328276"/>
            <a:ext cx="14288" cy="5268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1" name="Text 25"/>
          <p:cNvSpPr/>
          <p:nvPr/>
        </p:nvSpPr>
        <p:spPr>
          <a:xfrm>
            <a:off x="5256014" y="2414001"/>
            <a:ext cx="48934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2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194399" y="2631886"/>
            <a:ext cx="6125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Verificación</a:t>
            </a:r>
            <a:endParaRPr lang="en-US" sz="8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613" y="2477402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386513" y="2308827"/>
            <a:ext cx="2214563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Código + Haiku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revisan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longitud, tono y reglas de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negocio.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1285875" y="3067459"/>
            <a:ext cx="3643313" cy="76577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285875" y="3172634"/>
            <a:ext cx="857250" cy="526852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7" name="Shape 30"/>
          <p:cNvSpPr/>
          <p:nvPr/>
        </p:nvSpPr>
        <p:spPr>
          <a:xfrm>
            <a:off x="2128838" y="3172634"/>
            <a:ext cx="14288" cy="5268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8" name="Text 31"/>
          <p:cNvSpPr/>
          <p:nvPr/>
        </p:nvSpPr>
        <p:spPr>
          <a:xfrm>
            <a:off x="1471613" y="3258359"/>
            <a:ext cx="4857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3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1491258" y="3476244"/>
            <a:ext cx="44648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Memoria</a:t>
            </a:r>
            <a:endParaRPr lang="en-US" sz="85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425" y="3321760"/>
            <a:ext cx="200025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2571750" y="3153184"/>
            <a:ext cx="2243138" cy="565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Escribe los resultados y 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estatus de vuelta en </a:t>
            </a: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Supabase</a:t>
            </a:r>
            <a:r>
              <a:rPr lang="en-US" sz="12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1285875" y="4076123"/>
            <a:ext cx="7429500" cy="660797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43" name="Shape 35"/>
          <p:cNvSpPr/>
          <p:nvPr/>
        </p:nvSpPr>
        <p:spPr>
          <a:xfrm>
            <a:off x="1285875" y="4076123"/>
            <a:ext cx="57150" cy="660797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4" name="Text 36"/>
          <p:cNvSpPr/>
          <p:nvPr/>
        </p:nvSpPr>
        <p:spPr>
          <a:xfrm>
            <a:off x="1514475" y="4286864"/>
            <a:ext cx="3148608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Costo total de la corrida completa:</a:t>
            </a:r>
            <a:endParaRPr lang="en-US" sz="1400" dirty="0"/>
          </a:p>
        </p:txBody>
      </p:sp>
      <p:sp>
        <p:nvSpPr>
          <p:cNvPr id="45" name="Shape 37"/>
          <p:cNvSpPr/>
          <p:nvPr/>
        </p:nvSpPr>
        <p:spPr>
          <a:xfrm>
            <a:off x="7070527" y="4190423"/>
            <a:ext cx="1416248" cy="43219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38"/>
          <p:cNvSpPr/>
          <p:nvPr/>
        </p:nvSpPr>
        <p:spPr>
          <a:xfrm>
            <a:off x="7070527" y="4190423"/>
            <a:ext cx="1416248" cy="432197"/>
          </a:xfrm>
          <a:prstGeom prst="rect">
            <a:avLst/>
          </a:prstGeom>
          <a:noFill/>
          <a:ln/>
        </p:spPr>
        <p:txBody>
          <a:bodyPr wrap="square" lIns="170053" tIns="42545" rIns="170053" bIns="42545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~$0.012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366117" y="2434233"/>
            <a:ext cx="1589484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HACKATHON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43000" y="428625"/>
            <a:ext cx="77152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reto — El Agente Autónomo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143000" y="910828"/>
            <a:ext cx="3543300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1h 40min para construir un sistema real.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143000" y="1407319"/>
            <a:ext cx="3429000" cy="152262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8" name="Shape 5"/>
          <p:cNvSpPr/>
          <p:nvPr/>
        </p:nvSpPr>
        <p:spPr>
          <a:xfrm>
            <a:off x="1143000" y="1407319"/>
            <a:ext cx="57150" cy="1522623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9" name="Text 6"/>
          <p:cNvSpPr/>
          <p:nvPr/>
        </p:nvSpPr>
        <p:spPr>
          <a:xfrm>
            <a:off x="1285875" y="1550194"/>
            <a:ext cx="3143250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 MISIÓN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285875" y="1827014"/>
            <a:ext cx="31432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Construir un agente que gestione la reactivación de cuentas inactivas usando infraestructura en la nube, sin intervención humana.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1143000" y="3058530"/>
            <a:ext cx="3429000" cy="1228641"/>
          </a:xfrm>
          <a:prstGeom prst="rect">
            <a:avLst/>
          </a:prstGeom>
          <a:solidFill>
            <a:srgbClr val="D9EAFF"/>
          </a:solidFill>
          <a:ln w="18288">
            <a:solidFill>
              <a:srgbClr val="1E1A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85875" y="3165686"/>
            <a:ext cx="3143250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1AB7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Contexto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285875" y="3491424"/>
            <a:ext cx="298073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Mismo caso de uso (Grupo Meridian), pero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285875" y="3711429"/>
            <a:ext cx="293786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esta vez con memoria real, verificación de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285875" y="3931434"/>
            <a:ext cx="180379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calidad y autonomía total.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43450" y="1407319"/>
            <a:ext cx="4114800" cy="59862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29175" y="1531609"/>
            <a:ext cx="321469" cy="321469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18" name="Text 15"/>
          <p:cNvSpPr/>
          <p:nvPr/>
        </p:nvSpPr>
        <p:spPr>
          <a:xfrm>
            <a:off x="4829175" y="1531609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93519" y="1478756"/>
            <a:ext cx="3479006" cy="4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Detectar: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Leer Supabase y filtrar cuentas con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&gt;30 días inactivas.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43450" y="2034518"/>
            <a:ext cx="4114800" cy="59862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29175" y="2158808"/>
            <a:ext cx="321469" cy="321469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2" name="Text 19"/>
          <p:cNvSpPr/>
          <p:nvPr/>
        </p:nvSpPr>
        <p:spPr>
          <a:xfrm>
            <a:off x="4829175" y="2158808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93519" y="2105955"/>
            <a:ext cx="3479006" cy="4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Generar: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Redactar un mensaje personalizado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vía OpenRouter.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43450" y="2661717"/>
            <a:ext cx="4114800" cy="59862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29175" y="2786007"/>
            <a:ext cx="321469" cy="321469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6" name="Text 23"/>
          <p:cNvSpPr/>
          <p:nvPr/>
        </p:nvSpPr>
        <p:spPr>
          <a:xfrm>
            <a:off x="4829175" y="2786007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93519" y="2733154"/>
            <a:ext cx="3479006" cy="4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Verificar: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Validar longitud y tono antes de darlo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bueno.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43450" y="3288916"/>
            <a:ext cx="4114800" cy="598624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829175" y="3413206"/>
            <a:ext cx="321469" cy="321469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0" name="Text 27"/>
          <p:cNvSpPr/>
          <p:nvPr/>
        </p:nvSpPr>
        <p:spPr>
          <a:xfrm>
            <a:off x="4829175" y="3413206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293519" y="3360353"/>
            <a:ext cx="3479006" cy="427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5333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Registrar: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Actualizar el estatus en Supabase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(Memoria).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43450" y="3916114"/>
            <a:ext cx="4114800" cy="605768"/>
          </a:xfrm>
          <a:prstGeom prst="rect">
            <a:avLst/>
          </a:prstGeom>
          <a:solidFill>
            <a:srgbClr val="FEFEF5"/>
          </a:solidFill>
          <a:ln w="18288">
            <a:solidFill>
              <a:srgbClr val="380C60"/>
            </a:solidFill>
            <a:prstDash val="dash"/>
          </a:ln>
        </p:spPr>
      </p:sp>
      <p:sp>
        <p:nvSpPr>
          <p:cNvPr id="33" name="Shape 30"/>
          <p:cNvSpPr/>
          <p:nvPr/>
        </p:nvSpPr>
        <p:spPr>
          <a:xfrm>
            <a:off x="4829175" y="4043976"/>
            <a:ext cx="321469" cy="321469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34" name="Text 31"/>
          <p:cNvSpPr/>
          <p:nvPr/>
        </p:nvSpPr>
        <p:spPr>
          <a:xfrm>
            <a:off x="4829175" y="4043976"/>
            <a:ext cx="321469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293519" y="3994696"/>
            <a:ext cx="71080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Disparar: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004322" y="4007197"/>
            <a:ext cx="23413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Configurar un webhook para que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293519" y="4217575"/>
            <a:ext cx="106441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despierte solo.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29375" y="4234709"/>
            <a:ext cx="635794" cy="187161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39" name="Text 36"/>
          <p:cNvSpPr/>
          <p:nvPr/>
        </p:nvSpPr>
        <p:spPr>
          <a:xfrm>
            <a:off x="6429375" y="4234709"/>
            <a:ext cx="635794" cy="187161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ctr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OPCIONAL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90190" y="2434233"/>
            <a:ext cx="103763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NIVELES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Elige tu carril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4220170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Tres niveles de dificultad. Nadie se queda atrás.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450181"/>
            <a:ext cx="2390756" cy="2055614"/>
          </a:xfrm>
          <a:prstGeom prst="rect">
            <a:avLst/>
          </a:prstGeom>
          <a:solidFill>
            <a:srgbClr val="D9EA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5875" y="1450181"/>
            <a:ext cx="2390756" cy="369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1285875" y="1798439"/>
            <a:ext cx="2390756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538585"/>
            <a:ext cx="107156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8769" y="1521619"/>
            <a:ext cx="1468041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1. FUNDAMENTOS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371600" y="1884164"/>
            <a:ext cx="798314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371600" y="1884164"/>
            <a:ext cx="798314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L1: Ejecución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198489" y="1884164"/>
            <a:ext cx="760809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198489" y="1884164"/>
            <a:ext cx="760809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L3: Memoria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371600" y="2150269"/>
            <a:ext cx="221930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Conecta Supabase y OpenRouter. El agente lee las cuentas, genera el mensaje y actualiza la base de datos.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371600" y="3180755"/>
            <a:ext cx="2219306" cy="239316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Meta: Lograr persistencia real.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805219" y="1450181"/>
            <a:ext cx="2390784" cy="2055614"/>
          </a:xfrm>
          <a:prstGeom prst="rect">
            <a:avLst/>
          </a:prstGeom>
          <a:solidFill>
            <a:srgbClr val="FEFFB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805219" y="1450181"/>
            <a:ext cx="2390784" cy="36968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3805219" y="1798439"/>
            <a:ext cx="2390784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519" y="1538585"/>
            <a:ext cx="150019" cy="17145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140975" y="1521619"/>
            <a:ext cx="1401961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2. VERIFICACIÓN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890944" y="1884164"/>
            <a:ext cx="798314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890944" y="1884164"/>
            <a:ext cx="798314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L1: Ejecución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717833" y="1884164"/>
            <a:ext cx="935831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717833" y="1884164"/>
            <a:ext cx="935831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L2: Verificación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3890944" y="2121694"/>
            <a:ext cx="760809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890944" y="2121694"/>
            <a:ext cx="760809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L3: Memoria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890944" y="2387798"/>
            <a:ext cx="221933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Todo lo del Carril 1, más el grader híbrido. El agente debe rechazar sus propios errores y reintentar.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3890944" y="3114675"/>
            <a:ext cx="2219334" cy="239316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Meta: Lograr calidad autónoma.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6324591" y="1450181"/>
            <a:ext cx="2390756" cy="1989534"/>
          </a:xfrm>
          <a:prstGeom prst="rect">
            <a:avLst/>
          </a:prstGeom>
          <a:solidFill>
            <a:srgbClr val="380C60"/>
          </a:solidFill>
          <a:ln w="18288">
            <a:solidFill>
              <a:srgbClr val="380C6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324591" y="1450181"/>
            <a:ext cx="2390756" cy="369689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3" name="Shape 28"/>
          <p:cNvSpPr/>
          <p:nvPr/>
        </p:nvSpPr>
        <p:spPr>
          <a:xfrm>
            <a:off x="6324591" y="1798439"/>
            <a:ext cx="2390756" cy="2143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891" y="1538585"/>
            <a:ext cx="171450" cy="17145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681778" y="1521619"/>
            <a:ext cx="12055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3. AUTÓNOMO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410316" y="1884164"/>
            <a:ext cx="223242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410316" y="1884164"/>
            <a:ext cx="223242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L1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6662133" y="1884164"/>
            <a:ext cx="241102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662133" y="1884164"/>
            <a:ext cx="241102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L2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6931809" y="1884164"/>
            <a:ext cx="239316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31809" y="1884164"/>
            <a:ext cx="239316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L3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7199700" y="1884164"/>
            <a:ext cx="685800" cy="208955"/>
          </a:xfrm>
          <a:prstGeom prst="rect">
            <a:avLst/>
          </a:prstGeom>
          <a:solidFill>
            <a:srgbClr val="FFFFFF"/>
          </a:solidFill>
          <a:ln w="18288">
            <a:solidFill>
              <a:srgbClr val="FFFFFF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199700" y="1884164"/>
            <a:ext cx="685800" cy="208955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L4: Trigger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6410316" y="2150269"/>
            <a:ext cx="2219306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sistema completo. Configuras un webhook (ej. en n8n) para que el agente despierte solo ante un evento.</a:t>
            </a:r>
            <a:endParaRPr lang="en-US" sz="1050" dirty="0"/>
          </a:p>
        </p:txBody>
      </p:sp>
      <p:sp>
        <p:nvSpPr>
          <p:cNvPr id="45" name="Text 39"/>
          <p:cNvSpPr/>
          <p:nvPr/>
        </p:nvSpPr>
        <p:spPr>
          <a:xfrm>
            <a:off x="6410316" y="3059311"/>
            <a:ext cx="2219306" cy="239316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Meta: Cero intervención humana.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1285875" y="4489177"/>
            <a:ext cx="7429500" cy="582885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7" name="Text 41"/>
          <p:cNvSpPr/>
          <p:nvPr/>
        </p:nvSpPr>
        <p:spPr>
          <a:xfrm>
            <a:off x="1428750" y="4574902"/>
            <a:ext cx="7143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Todos parten de una plantilla con instrucciones claras.</a:t>
            </a: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dirty="0">
                <a:solidFill>
                  <a:srgbClr val="FEFFB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 terminan rápido, suban al siguiente carril.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40184" y="2434233"/>
            <a:ext cx="77688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SETUP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stack y cómo arrancar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3661172" cy="29646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Preparando el entorno para el hackathon.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85875" y="1350169"/>
            <a:ext cx="2903209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1. VARIABLES NECESARIAS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285875" y="1626989"/>
            <a:ext cx="2903209" cy="2193131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9" name="Shape 6"/>
          <p:cNvSpPr/>
          <p:nvPr/>
        </p:nvSpPr>
        <p:spPr>
          <a:xfrm>
            <a:off x="1285875" y="1626989"/>
            <a:ext cx="57150" cy="2193131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1712714"/>
            <a:ext cx="2731759" cy="508992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28750" y="1769864"/>
            <a:ext cx="26174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D9EA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CEREBRO (OPENROUTER)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428750" y="1935956"/>
            <a:ext cx="26174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OPENROUTER_API_KEY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371600" y="2293144"/>
            <a:ext cx="2731759" cy="508992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28750" y="2350294"/>
            <a:ext cx="26174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D9EA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MEMORIA (SUPABASE)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428750" y="2516386"/>
            <a:ext cx="26174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SUPABASE_URL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371600" y="2873573"/>
            <a:ext cx="2731759" cy="508992"/>
          </a:xfrm>
          <a:prstGeom prst="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28750" y="2930723"/>
            <a:ext cx="261745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D9EA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AUTENTICACIÓN (SUPABASE)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428750" y="3096816"/>
            <a:ext cx="2617459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SUPABASE_KEY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360534" y="1350169"/>
            <a:ext cx="4354841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2. PASOS DE EJECUCIÓN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360534" y="1626989"/>
            <a:ext cx="4354841" cy="3714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60534" y="1626989"/>
            <a:ext cx="428625" cy="3429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2" name="Shape 19"/>
          <p:cNvSpPr/>
          <p:nvPr/>
        </p:nvSpPr>
        <p:spPr>
          <a:xfrm>
            <a:off x="4774871" y="1626989"/>
            <a:ext cx="14288" cy="3429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4360534" y="1626989"/>
            <a:ext cx="4286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</a:t>
            </a:r>
            <a:endParaRPr lang="en-US" sz="14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884" y="1698427"/>
            <a:ext cx="250031" cy="20002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10640" y="1703784"/>
            <a:ext cx="292715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Clonar repo: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Descargar las plantillas base.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360534" y="2027039"/>
            <a:ext cx="4354841" cy="5500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360534" y="2027039"/>
            <a:ext cx="428625" cy="52149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28" name="Shape 24"/>
          <p:cNvSpPr/>
          <p:nvPr/>
        </p:nvSpPr>
        <p:spPr>
          <a:xfrm>
            <a:off x="4774871" y="2027039"/>
            <a:ext cx="14288" cy="5214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Text 25"/>
          <p:cNvSpPr/>
          <p:nvPr/>
        </p:nvSpPr>
        <p:spPr>
          <a:xfrm>
            <a:off x="4360534" y="2027039"/>
            <a:ext cx="428625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</a:t>
            </a:r>
            <a:endParaRPr lang="en-US" sz="14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4884" y="2187773"/>
            <a:ext cx="232311" cy="20002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92920" y="2098477"/>
            <a:ext cx="343673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Crear tablas: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Ejecutar el esquema SQL en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Supabase.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4360534" y="2605683"/>
            <a:ext cx="4354841" cy="5500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360534" y="2605683"/>
            <a:ext cx="428625" cy="52149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4" name="Shape 29"/>
          <p:cNvSpPr/>
          <p:nvPr/>
        </p:nvSpPr>
        <p:spPr>
          <a:xfrm>
            <a:off x="4774871" y="2605683"/>
            <a:ext cx="14288" cy="5214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30"/>
          <p:cNvSpPr/>
          <p:nvPr/>
        </p:nvSpPr>
        <p:spPr>
          <a:xfrm>
            <a:off x="4360534" y="2605683"/>
            <a:ext cx="428625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</a:t>
            </a:r>
            <a:endParaRPr lang="en-US" sz="14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884" y="2766417"/>
            <a:ext cx="216461" cy="2000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177070" y="2677120"/>
            <a:ext cx="345258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Cargar datos: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Insertar las cuentas semilla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(Meridian, etc).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360534" y="3184327"/>
            <a:ext cx="4354841" cy="550069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360534" y="3184327"/>
            <a:ext cx="428625" cy="52149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0" name="Shape 34"/>
          <p:cNvSpPr/>
          <p:nvPr/>
        </p:nvSpPr>
        <p:spPr>
          <a:xfrm>
            <a:off x="4774871" y="3184327"/>
            <a:ext cx="14288" cy="52149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1" name="Text 35"/>
          <p:cNvSpPr/>
          <p:nvPr/>
        </p:nvSpPr>
        <p:spPr>
          <a:xfrm>
            <a:off x="4360534" y="3184327"/>
            <a:ext cx="428625" cy="5214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4</a:t>
            </a:r>
            <a:endParaRPr lang="en-US" sz="14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4884" y="3345061"/>
            <a:ext cx="223521" cy="200025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5184130" y="3255764"/>
            <a:ext cx="344552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Correr carril: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Completar el código y ejecutar el </a:t>
            </a: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agente.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1285875" y="4389165"/>
            <a:ext cx="7429500" cy="611460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45" name="Shape 38"/>
          <p:cNvSpPr/>
          <p:nvPr/>
        </p:nvSpPr>
        <p:spPr>
          <a:xfrm>
            <a:off x="1285875" y="4389165"/>
            <a:ext cx="42863" cy="611460"/>
          </a:xfrm>
          <a:prstGeom prst="rect">
            <a:avLst/>
          </a:prstGeom>
          <a:solidFill>
            <a:srgbClr val="1E1AB7"/>
          </a:solidFill>
          <a:ln/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463" y="4566307"/>
            <a:ext cx="257175" cy="257175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1785938" y="4474890"/>
            <a:ext cx="680085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Red de seguridad:</a:t>
            </a:r>
            <a:r>
              <a:rPr lang="en-US" sz="11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Si alguien tiene problemas creando su cuenta de Supabase, tenemos un </a:t>
            </a:r>
            <a:r>
              <a:rPr lang="en-US" sz="11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clon local listo en el entorno para que nadie se quede atrás.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895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89544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52685" y="2457255"/>
            <a:ext cx="96262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REGLAS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Reglas del hackathon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4555927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marco de trabajo para los próximos 100 minutos.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378744"/>
            <a:ext cx="2381241" cy="1396603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8" y="1496616"/>
            <a:ext cx="28575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71650" y="1464469"/>
            <a:ext cx="1795453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1. EQUIPOS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771650" y="1712714"/>
            <a:ext cx="179545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Trabajen en grupos de 2 a 3 personas. Apóyense para resolver bloqueos técnicos.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809991" y="1378744"/>
            <a:ext cx="2381241" cy="1396603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578" y="149661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295766" y="1464469"/>
            <a:ext cx="1795453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2. CARRIL Y PLANTILLAS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295766" y="1918097"/>
            <a:ext cx="179545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Elijan su carril (1, 2 o 3) y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arranquen </a:t>
            </a:r>
            <a:r>
              <a:rPr lang="en-US" sz="10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estrictamente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desde la plantilla </a:t>
            </a: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correspondiente.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334106" y="1378744"/>
            <a:ext cx="2381269" cy="1368028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266" y="1496616"/>
            <a:ext cx="221456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19881" y="1464469"/>
            <a:ext cx="1795481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3. ENTREGABLE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819881" y="1712714"/>
            <a:ext cx="1795481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resultado final debe vivir en un repositorio de GitHub con un README claro.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1285875" y="2875359"/>
            <a:ext cx="2381241" cy="1191220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463" y="2993231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771650" y="2961084"/>
            <a:ext cx="1795453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4. SEGURIDAD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771650" y="3209330"/>
            <a:ext cx="1795453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Usen llaves de API (OpenRouter) con un límite de gasto bajo configurado ($1-$5).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3809991" y="2875359"/>
            <a:ext cx="2381241" cy="1191220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866" y="2993231"/>
            <a:ext cx="200025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295766" y="2961084"/>
            <a:ext cx="1795453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5. DEMO FINAL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4295766" y="3209330"/>
            <a:ext cx="179545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Tendrán 2-3 minutos por equipo al terminar el tiempo para presentar su agente.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334106" y="2875359"/>
            <a:ext cx="2381269" cy="1191220"/>
          </a:xfrm>
          <a:prstGeom prst="rect">
            <a:avLst/>
          </a:prstGeom>
          <a:solidFill>
            <a:srgbClr val="FFFFFF"/>
          </a:solidFill>
          <a:ln w="18288">
            <a:solidFill>
              <a:srgbClr val="380C60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2694" y="2993231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819881" y="2961084"/>
            <a:ext cx="1795481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6. FOCO DEL DEMO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819881" y="3209330"/>
            <a:ext cx="179548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Muestren qué loops lograron conectar y qué cambió físicamente en Supabase.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1285875" y="4309467"/>
            <a:ext cx="7429500" cy="680052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32" name="Shape 23"/>
          <p:cNvSpPr/>
          <p:nvPr/>
        </p:nvSpPr>
        <p:spPr>
          <a:xfrm>
            <a:off x="1285875" y="4309467"/>
            <a:ext cx="42863" cy="680052"/>
          </a:xfrm>
          <a:prstGeom prst="rect">
            <a:avLst/>
          </a:prstGeom>
          <a:solidFill>
            <a:srgbClr val="1E1AB7"/>
          </a:solidFill>
          <a:ln/>
        </p:spPr>
      </p:sp>
      <p:sp>
        <p:nvSpPr>
          <p:cNvPr id="33" name="Text 24"/>
          <p:cNvSpPr/>
          <p:nvPr/>
        </p:nvSpPr>
        <p:spPr>
          <a:xfrm>
            <a:off x="1428750" y="4409480"/>
            <a:ext cx="7143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objetivo no es que el código sea perfecto a la primera.</a:t>
            </a:r>
            <a:r>
              <a:rPr lang="en-US" sz="12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b="1" dirty="0">
                <a:solidFill>
                  <a:srgbClr val="1E1AB7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objetivo es entender cómo se conectan las piezas del sistema.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379512" y="2434233"/>
            <a:ext cx="1616273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Rúbrica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3452217" cy="29646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Cómo evaluaremos el éxito del agente.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350169"/>
            <a:ext cx="7429500" cy="2709267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3019" y="1357313"/>
            <a:ext cx="1853803" cy="333970"/>
          </a:xfrm>
          <a:prstGeom prst="rect">
            <a:avLst/>
          </a:prstGeom>
          <a:solidFill>
            <a:srgbClr val="380C6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93019" y="1357313"/>
            <a:ext cx="1853803" cy="3339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CRITERIO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146822" y="1357313"/>
            <a:ext cx="4449105" cy="333970"/>
          </a:xfrm>
          <a:prstGeom prst="rect">
            <a:avLst/>
          </a:prstGeom>
          <a:solidFill>
            <a:srgbClr val="380C6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46822" y="1357313"/>
            <a:ext cx="4449105" cy="333970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95927" y="1357313"/>
            <a:ext cx="1112304" cy="333970"/>
          </a:xfrm>
          <a:prstGeom prst="rect">
            <a:avLst/>
          </a:prstGeom>
          <a:solidFill>
            <a:srgbClr val="380C60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595927" y="1357313"/>
            <a:ext cx="1112304" cy="333970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PESO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3" y="1848445"/>
            <a:ext cx="137517" cy="1571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23417" y="1835944"/>
            <a:ext cx="12412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3: Memoria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146822" y="1676995"/>
            <a:ext cx="4449105" cy="5072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Lee correctamente de Supabase y actualiza el estatus al finalizar.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7595927" y="1676995"/>
            <a:ext cx="1112304" cy="5072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25%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1293019" y="2184202"/>
            <a:ext cx="1853803" cy="507206"/>
          </a:xfrm>
          <a:prstGeom prst="rect">
            <a:avLst/>
          </a:prstGeom>
          <a:solidFill>
            <a:srgbClr val="FEFEF5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319" y="2260997"/>
            <a:ext cx="157163" cy="15716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07319" y="2248495"/>
            <a:ext cx="875109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2: Verificación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146822" y="2184202"/>
            <a:ext cx="4449105" cy="507206"/>
          </a:xfrm>
          <a:prstGeom prst="rect">
            <a:avLst/>
          </a:prstGeom>
          <a:solidFill>
            <a:srgbClr val="FEFE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146822" y="2184202"/>
            <a:ext cx="4449105" cy="5072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Implementa el grader para rechazar mensajes que no cumplen las reglas.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595927" y="2184202"/>
            <a:ext cx="1112304" cy="507206"/>
          </a:xfrm>
          <a:prstGeom prst="rect">
            <a:avLst/>
          </a:prstGeom>
          <a:solidFill>
            <a:srgbClr val="FEFE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595927" y="2184202"/>
            <a:ext cx="1112304" cy="5072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25%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463" y="2862858"/>
            <a:ext cx="157163" cy="15716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43063" y="2850356"/>
            <a:ext cx="1294805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1: Ejecución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3146822" y="2691408"/>
            <a:ext cx="4449105" cy="5072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Genera mensajes personalizados y coherentes vía OpenRouter.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595927" y="2691408"/>
            <a:ext cx="1112304" cy="5072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20%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1293019" y="3198614"/>
            <a:ext cx="1853803" cy="317897"/>
          </a:xfrm>
          <a:prstGeom prst="rect">
            <a:avLst/>
          </a:prstGeom>
          <a:solidFill>
            <a:srgbClr val="FEFEF5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7319" y="3275409"/>
            <a:ext cx="117872" cy="15716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596628" y="3262908"/>
            <a:ext cx="114121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 4: Trigger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3146822" y="3198614"/>
            <a:ext cx="4449105" cy="317897"/>
          </a:xfrm>
          <a:prstGeom prst="rect">
            <a:avLst/>
          </a:prstGeom>
          <a:solidFill>
            <a:srgbClr val="FEFE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146822" y="3198614"/>
            <a:ext cx="4449105" cy="31789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Configura un webhook funcional para despertar al agente.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7595927" y="3198614"/>
            <a:ext cx="1112304" cy="317897"/>
          </a:xfrm>
          <a:prstGeom prst="rect">
            <a:avLst/>
          </a:prstGeom>
          <a:solidFill>
            <a:srgbClr val="FEFEF5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595927" y="3198614"/>
            <a:ext cx="1112304" cy="317897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15%</a:t>
            </a:r>
            <a:endParaRPr lang="en-US" sz="11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463" y="3687961"/>
            <a:ext cx="151805" cy="15716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37705" y="3675459"/>
            <a:ext cx="82688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Entregable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3146822" y="3516511"/>
            <a:ext cx="4449105" cy="507206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Repositorio en GitHub con código limpio y README explicativo.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7595927" y="3516511"/>
            <a:ext cx="1112304" cy="507206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15%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1285875" y="4230886"/>
            <a:ext cx="7429500" cy="580039"/>
          </a:xfrm>
          <a:prstGeom prst="rect">
            <a:avLst/>
          </a:prstGeom>
          <a:solidFill>
            <a:srgbClr val="FEFFBF"/>
          </a:solidFill>
          <a:ln/>
        </p:spPr>
      </p:sp>
      <p:sp>
        <p:nvSpPr>
          <p:cNvPr id="41" name="Shape 33"/>
          <p:cNvSpPr/>
          <p:nvPr/>
        </p:nvSpPr>
        <p:spPr>
          <a:xfrm>
            <a:off x="1285875" y="4230886"/>
            <a:ext cx="42863" cy="580039"/>
          </a:xfrm>
          <a:prstGeom prst="rect">
            <a:avLst/>
          </a:prstGeom>
          <a:solidFill>
            <a:srgbClr val="B1B302"/>
          </a:solidFill>
          <a:ln/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8750" y="4392318"/>
            <a:ext cx="257175" cy="257175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800225" y="4316611"/>
            <a:ext cx="6772275" cy="4085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Nota para el Carril 1:</a:t>
            </a:r>
            <a:r>
              <a:rPr lang="en-US" sz="1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Los pesos de Verificación y Trigger se redistribuyen hacia Ejecución y </a:t>
            </a:r>
            <a:r>
              <a:rPr lang="en-US" sz="11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Memoria. </a:t>
            </a:r>
            <a:r>
              <a:rPr lang="en-US" sz="11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Elegir un carril accesible no penaliza la calificación.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15193" y="2434233"/>
            <a:ext cx="108763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TIEMPOS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Checkpoints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340578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Asegurando que nadie se quede atrás.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553766"/>
            <a:ext cx="2333634" cy="20431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85875" y="1553766"/>
            <a:ext cx="2305059" cy="428625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9" name="Shape 6"/>
          <p:cNvSpPr/>
          <p:nvPr/>
        </p:nvSpPr>
        <p:spPr>
          <a:xfrm>
            <a:off x="1285875" y="1960959"/>
            <a:ext cx="2305059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034" y="1735931"/>
            <a:ext cx="128588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74059" y="1718965"/>
            <a:ext cx="92868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MINUTO 30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285875" y="1982391"/>
            <a:ext cx="2305059" cy="1571625"/>
          </a:xfrm>
          <a:prstGeom prst="rect">
            <a:avLst/>
          </a:prstGeom>
          <a:solidFill>
            <a:srgbClr val="D9EA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372" y="2160984"/>
            <a:ext cx="300038" cy="3429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80285" y="2646759"/>
            <a:ext cx="1116211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Checkpoint 1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28750" y="2977158"/>
            <a:ext cx="201930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¿Quién ya logró conectar y leer datos desde Supabase?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05247" y="1553766"/>
            <a:ext cx="2347922" cy="20431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3819534" y="1553766"/>
            <a:ext cx="2319347" cy="428625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18" name="Shape 13"/>
          <p:cNvSpPr/>
          <p:nvPr/>
        </p:nvSpPr>
        <p:spPr>
          <a:xfrm>
            <a:off x="3819534" y="1960959"/>
            <a:ext cx="2319347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159" y="1735931"/>
            <a:ext cx="128588" cy="1714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12184" y="1718965"/>
            <a:ext cx="934045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MINUTO 60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819534" y="1982391"/>
            <a:ext cx="2319347" cy="1571625"/>
          </a:xfrm>
          <a:prstGeom prst="rect">
            <a:avLst/>
          </a:prstGeom>
          <a:solidFill>
            <a:srgbClr val="FEFFB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744" y="2160984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06801" y="2646759"/>
            <a:ext cx="1144786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Checkpoint 2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962409" y="2977158"/>
            <a:ext cx="2033597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¿Quién ya está escribiendo resultados o verificando con el grader?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353194" y="1553766"/>
            <a:ext cx="2362209" cy="204311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381769" y="1553766"/>
            <a:ext cx="2333634" cy="428625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27" name="Shape 20"/>
          <p:cNvSpPr/>
          <p:nvPr/>
        </p:nvSpPr>
        <p:spPr>
          <a:xfrm>
            <a:off x="6381769" y="1960959"/>
            <a:ext cx="2333634" cy="21431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7971" y="1735931"/>
            <a:ext cx="214313" cy="1714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13721" y="1718965"/>
            <a:ext cx="755452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FLEXIBLE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381769" y="1982391"/>
            <a:ext cx="2333634" cy="1571625"/>
          </a:xfrm>
          <a:prstGeom prst="rect">
            <a:avLst/>
          </a:prstGeom>
          <a:solidFill>
            <a:srgbClr val="FED8EA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7122" y="2160984"/>
            <a:ext cx="342900" cy="3429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03861" y="2646759"/>
            <a:ext cx="1089422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Break 10 min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6524644" y="2977158"/>
            <a:ext cx="2047884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Pausa para estirar las piernas, tomar agua y despejar la mente.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1285875" y="3929063"/>
            <a:ext cx="7429500" cy="785813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35" name="Shape 26"/>
          <p:cNvSpPr/>
          <p:nvPr/>
        </p:nvSpPr>
        <p:spPr>
          <a:xfrm>
            <a:off x="1285875" y="3929063"/>
            <a:ext cx="57150" cy="785813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6" name="Text 27"/>
          <p:cNvSpPr/>
          <p:nvPr/>
        </p:nvSpPr>
        <p:spPr>
          <a:xfrm>
            <a:off x="1500188" y="4171252"/>
            <a:ext cx="5432822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Haremos estas pausas grupales para compartir bloqueos y soluciones.</a:t>
            </a: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
</a:t>
            </a:r>
            <a:r>
              <a:rPr lang="en-US" sz="1200" dirty="0">
                <a:solidFill>
                  <a:srgbClr val="009A4A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 un equipo se atora, lo resolvemos juntos.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249138" y="2434233"/>
            <a:ext cx="1355527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SHOWTIME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Demos de equipos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348972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 hora de ver a sus agentes en acción.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1518047"/>
            <a:ext cx="3247141" cy="2714625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8" name="Shape 5"/>
          <p:cNvSpPr/>
          <p:nvPr/>
        </p:nvSpPr>
        <p:spPr>
          <a:xfrm>
            <a:off x="1285875" y="1518047"/>
            <a:ext cx="57150" cy="2714625"/>
          </a:xfrm>
          <a:prstGeom prst="rect">
            <a:avLst/>
          </a:prstGeom>
          <a:solidFill>
            <a:srgbClr val="009A4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782366"/>
            <a:ext cx="250031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57375" y="1768078"/>
            <a:ext cx="2461329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Seleccionaremos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 a 4 equipos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para presentar sus resultados.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188" y="2406718"/>
            <a:ext cx="175022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82366" y="2392431"/>
            <a:ext cx="2536338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Tendrán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 a 3 minutos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por 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equipo para mostrar su sistema.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188" y="3031071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07369" y="3016783"/>
            <a:ext cx="2511335" cy="891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Priorizaremos mostrar una </a:t>
            </a:r>
            <a:r>
              <a:rPr lang="en-US" sz="1200" b="1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variedad de carriles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(Fundamentos, Verificación, 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Autónomo).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766" y="1535013"/>
            <a:ext cx="128588" cy="1714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18791" y="1518047"/>
            <a:ext cx="1475184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PREGUNTAS GUÍA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818766" y="1937742"/>
            <a:ext cx="3896609" cy="785813"/>
          </a:xfrm>
          <a:prstGeom prst="rect">
            <a:avLst/>
          </a:prstGeom>
          <a:solidFill>
            <a:srgbClr val="D9EAF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997360" y="2080617"/>
            <a:ext cx="21431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5354548" y="2109192"/>
            <a:ext cx="2425303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¿Qué </a:t>
            </a: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carril</a:t>
            </a: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eligieron y por qué?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4818766" y="2866430"/>
            <a:ext cx="3896609" cy="785813"/>
          </a:xfrm>
          <a:prstGeom prst="rect">
            <a:avLst/>
          </a:prstGeom>
          <a:solidFill>
            <a:srgbClr val="FEFFBF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997360" y="3009305"/>
            <a:ext cx="17075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5310987" y="3037880"/>
            <a:ext cx="3225794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¿Qué </a:t>
            </a: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loop</a:t>
            </a: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 fue el más difícil de conectar </a:t>
            </a: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o entender?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4818766" y="3795117"/>
            <a:ext cx="3896609" cy="785813"/>
          </a:xfrm>
          <a:prstGeom prst="rect">
            <a:avLst/>
          </a:prstGeom>
          <a:solidFill>
            <a:srgbClr val="FED8EA"/>
          </a:solidFill>
          <a:ln w="18288">
            <a:solidFill>
              <a:srgbClr val="00000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997360" y="3937992"/>
            <a:ext cx="173292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313527" y="3966567"/>
            <a:ext cx="3223254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¿Qué cambió físicamente en su tabla de </a:t>
            </a:r>
            <a:r>
              <a:rPr lang="en-US" sz="12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Supabase</a:t>
            </a:r>
            <a:r>
              <a:rPr lang="en-US" sz="12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10728" y="2434233"/>
            <a:ext cx="1078706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EL VIAJE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285875" y="428625"/>
            <a:ext cx="742950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La escalera completa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285875" y="910828"/>
            <a:ext cx="3414713" cy="325041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un prompt a un Agente Autónomo.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285875" y="2350294"/>
            <a:ext cx="1803797" cy="857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1285875" y="2350294"/>
            <a:ext cx="1803797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Shape 6"/>
          <p:cNvSpPr/>
          <p:nvPr/>
        </p:nvSpPr>
        <p:spPr>
          <a:xfrm>
            <a:off x="3068241" y="2350294"/>
            <a:ext cx="21431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Shape 7"/>
          <p:cNvSpPr/>
          <p:nvPr/>
        </p:nvSpPr>
        <p:spPr>
          <a:xfrm>
            <a:off x="1285875" y="2350294"/>
            <a:ext cx="21431" cy="8572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1285875" y="2350294"/>
            <a:ext cx="1771650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SESIÓN 1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68203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17191" y="3068241"/>
            <a:ext cx="70901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Ejecución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918097" y="3293269"/>
            <a:ext cx="5072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Prompt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128963" y="2064544"/>
            <a:ext cx="1814513" cy="1143000"/>
          </a:xfrm>
          <a:prstGeom prst="rect">
            <a:avLst/>
          </a:prstGeom>
          <a:solidFill>
            <a:srgbClr val="D9EAFF"/>
          </a:solidFill>
          <a:ln/>
        </p:spPr>
      </p:sp>
      <p:sp>
        <p:nvSpPr>
          <p:cNvPr id="16" name="Shape 12"/>
          <p:cNvSpPr/>
          <p:nvPr/>
        </p:nvSpPr>
        <p:spPr>
          <a:xfrm>
            <a:off x="3128963" y="2064544"/>
            <a:ext cx="1814513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3"/>
          <p:cNvSpPr/>
          <p:nvPr/>
        </p:nvSpPr>
        <p:spPr>
          <a:xfrm>
            <a:off x="4922044" y="2064544"/>
            <a:ext cx="21431" cy="1143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4"/>
          <p:cNvSpPr/>
          <p:nvPr/>
        </p:nvSpPr>
        <p:spPr>
          <a:xfrm>
            <a:off x="3128963" y="2064544"/>
            <a:ext cx="21431" cy="1143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3139678" y="2064544"/>
            <a:ext cx="1782366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SESIÓN 2</a:t>
            </a:r>
            <a:endParaRPr lang="en-US" sz="9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561" y="2482453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93306" y="2782491"/>
            <a:ext cx="87510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Verificación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790652" y="3007519"/>
            <a:ext cx="4804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Grader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4993481" y="1778794"/>
            <a:ext cx="1825228" cy="1428750"/>
          </a:xfrm>
          <a:prstGeom prst="rect">
            <a:avLst/>
          </a:prstGeom>
          <a:solidFill>
            <a:srgbClr val="FEFFBF"/>
          </a:solidFill>
          <a:ln/>
        </p:spPr>
      </p:sp>
      <p:sp>
        <p:nvSpPr>
          <p:cNvPr id="24" name="Shape 19"/>
          <p:cNvSpPr/>
          <p:nvPr/>
        </p:nvSpPr>
        <p:spPr>
          <a:xfrm>
            <a:off x="4993481" y="1778794"/>
            <a:ext cx="1825228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Shape 20"/>
          <p:cNvSpPr/>
          <p:nvPr/>
        </p:nvSpPr>
        <p:spPr>
          <a:xfrm>
            <a:off x="6797278" y="1778794"/>
            <a:ext cx="21431" cy="1428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1"/>
          <p:cNvSpPr/>
          <p:nvPr/>
        </p:nvSpPr>
        <p:spPr>
          <a:xfrm>
            <a:off x="4993481" y="1778794"/>
            <a:ext cx="21431" cy="142875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2"/>
          <p:cNvSpPr/>
          <p:nvPr/>
        </p:nvSpPr>
        <p:spPr>
          <a:xfrm>
            <a:off x="5014913" y="1778794"/>
            <a:ext cx="1793081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SESIÓN 3 Y 4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441" y="2317254"/>
            <a:ext cx="200025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594449" y="2617291"/>
            <a:ext cx="63400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Memoria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70327" y="2842320"/>
            <a:ext cx="8822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80C6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La Base de Datos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6879431" y="1493044"/>
            <a:ext cx="1835944" cy="1714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32" name="Shape 26"/>
          <p:cNvSpPr/>
          <p:nvPr/>
        </p:nvSpPr>
        <p:spPr>
          <a:xfrm>
            <a:off x="6879431" y="1493044"/>
            <a:ext cx="1835944" cy="2143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3" name="Shape 27"/>
          <p:cNvSpPr/>
          <p:nvPr/>
        </p:nvSpPr>
        <p:spPr>
          <a:xfrm>
            <a:off x="8693944" y="1493044"/>
            <a:ext cx="21431" cy="1714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Shape 28"/>
          <p:cNvSpPr/>
          <p:nvPr/>
        </p:nvSpPr>
        <p:spPr>
          <a:xfrm>
            <a:off x="6879431" y="1493044"/>
            <a:ext cx="21431" cy="1714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5" name="Text 29"/>
          <p:cNvSpPr/>
          <p:nvPr/>
        </p:nvSpPr>
        <p:spPr>
          <a:xfrm>
            <a:off x="6911578" y="1493044"/>
            <a:ext cx="1803797" cy="310753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HOY</a:t>
            </a:r>
            <a:endParaRPr lang="en-US" sz="9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752" y="2174379"/>
            <a:ext cx="171450" cy="2286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552730" y="2474416"/>
            <a:ext cx="52149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Trigger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507188" y="2699445"/>
            <a:ext cx="61257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FEFFB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El Webhook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1285875" y="3714750"/>
            <a:ext cx="7429500" cy="1000125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40" name="Shape 33"/>
          <p:cNvSpPr/>
          <p:nvPr/>
        </p:nvSpPr>
        <p:spPr>
          <a:xfrm>
            <a:off x="1285875" y="3714750"/>
            <a:ext cx="57150" cy="1000125"/>
          </a:xfrm>
          <a:prstGeom prst="rect">
            <a:avLst/>
          </a:prstGeom>
          <a:solidFill>
            <a:srgbClr val="CF2C7F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132659"/>
            <a:ext cx="342900" cy="3429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128838" y="3949964"/>
            <a:ext cx="6300788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CF2C7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PRÓXIMA SESIÓN: HILL CLIMBING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2128838" y="4212496"/>
            <a:ext cx="6300788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¿Qué pasa cuando el sistema analiza sus propios resultados y </a:t>
            </a:r>
            <a:r>
              <a:rPr lang="en-US" sz="1200" b="1" dirty="0">
                <a:solidFill>
                  <a:srgbClr val="FED8E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se mejora solo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sin </a:t>
            </a:r>
            <a:r>
              <a:rPr lang="en-US" sz="125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tú diseñes las reglas?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857250" cy="514350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4" name="Text 1"/>
          <p:cNvSpPr/>
          <p:nvPr/>
        </p:nvSpPr>
        <p:spPr>
          <a:xfrm rot="-5400000">
            <a:off x="-12502" y="2434233"/>
            <a:ext cx="88225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spc="2" kern="0" dirty="0">
                <a:solidFill>
                  <a:srgbClr val="FFFFF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CIERRE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28750" y="428625"/>
            <a:ext cx="7143750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Pre-work S5 + Cierre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428750" y="910828"/>
            <a:ext cx="299680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380C6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siguiente paso en su evolución.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428750" y="1518047"/>
            <a:ext cx="3464719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1696641"/>
            <a:ext cx="250031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00250" y="1713607"/>
            <a:ext cx="1348383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1. ENTREGABLE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43063" y="2060972"/>
            <a:ext cx="3014663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Asegúrense de hacer push de su código final a GitHub. Será la base sobre la que construiremos en la Sesión 5.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086350" y="1518047"/>
            <a:ext cx="3486150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094" y="1696641"/>
            <a:ext cx="257175" cy="2571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86425" y="1713607"/>
            <a:ext cx="1209080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0C6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2. REFLEXIÓN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322094" y="2060972"/>
            <a:ext cx="3036094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Piensen: ¿Qué proceso real de su empresa migrarían a este stack (Memoria + Verificación + Autonomía)?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428750" y="3286125"/>
            <a:ext cx="7143750" cy="1428750"/>
          </a:xfrm>
          <a:prstGeom prst="rect">
            <a:avLst/>
          </a:prstGeom>
          <a:solidFill>
            <a:srgbClr val="380C60"/>
          </a:solidFill>
          <a:ln/>
        </p:spPr>
      </p:sp>
      <p:sp>
        <p:nvSpPr>
          <p:cNvPr id="16" name="Shape 11"/>
          <p:cNvSpPr/>
          <p:nvPr/>
        </p:nvSpPr>
        <p:spPr>
          <a:xfrm>
            <a:off x="1428750" y="3286125"/>
            <a:ext cx="85725" cy="1428750"/>
          </a:xfrm>
          <a:prstGeom prst="rect">
            <a:avLst/>
          </a:prstGeom>
          <a:solidFill>
            <a:srgbClr val="009A4A"/>
          </a:solidFill>
          <a:ln/>
        </p:spPr>
      </p:sp>
      <p:sp>
        <p:nvSpPr>
          <p:cNvPr id="17" name="Text 12"/>
          <p:cNvSpPr/>
          <p:nvPr/>
        </p:nvSpPr>
        <p:spPr>
          <a:xfrm>
            <a:off x="1714500" y="3536156"/>
            <a:ext cx="657225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Hoy cruzaron el umbral. Dejaron de tener un asistente local y </a:t>
            </a:r>
            <a:r>
              <a:rPr lang="en-US" sz="16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pasaron a construir un sistema que </a:t>
            </a:r>
            <a:r>
              <a:rPr lang="en-US" sz="1500" b="1" dirty="0">
                <a:solidFill>
                  <a:srgbClr val="FEFFB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ejecuta, revisa, recuerda y </a:t>
            </a:r>
            <a:r>
              <a:rPr lang="en-US" sz="1500" b="1" dirty="0">
                <a:solidFill>
                  <a:srgbClr val="FEFFB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despierta solo.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14500" y="4579144"/>
            <a:ext cx="6572250" cy="205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2" kern="0" dirty="0">
                <a:solidFill>
                  <a:srgbClr val="009A4A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BIENVENIDOS AL LOOP ENGINEERING.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2026-06-22T22:36:43Z</dcterms:created>
  <dcterms:modified xsi:type="dcterms:W3CDTF">2026-06-22T22:36:43Z</dcterms:modified>
</cp:coreProperties>
</file>